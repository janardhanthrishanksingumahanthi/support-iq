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ACADEMIC RESEARCH &amp; PROJECT DEFENSE</a:t>
            </a:r>
          </a:p>
          <a:p>
            <a:pPr>
              <a:spcBef>
                <a:spcPts val="600"/>
              </a:spcBef>
              <a:defRPr sz="3600" b="1">
                <a:solidFill>
                  <a:srgbClr val="F8FAFC"/>
                </a:solidFill>
                <a:latin typeface="Arial"/>
              </a:defRPr>
            </a:pPr>
            <a:r>
              <a:t>SupportIQ</a:t>
            </a:r>
          </a:p>
          <a:p>
            <a:pPr>
              <a:spcBef>
                <a:spcPts val="800"/>
              </a:spcBef>
              <a:defRPr sz="1600">
                <a:solidFill>
                  <a:srgbClr val="38BDF8"/>
                </a:solidFill>
                <a:latin typeface="Arial"/>
              </a:defRPr>
            </a:pPr>
            <a:r>
              <a:t>Retrieval-augmented Question Answering via Parameter-efficient Fine-tuning (LoRA/QLoRA), Applied to Customer Support Chatbot Automation</a:t>
            </a:r>
          </a:p>
          <a:p>
            <a:pPr>
              <a:spcBef>
                <a:spcPts val="1600"/>
              </a:spcBef>
              <a:defRPr sz="1300" b="1">
                <a:solidFill>
                  <a:srgbClr val="F59E0B"/>
                </a:solidFill>
                <a:latin typeface="Arial"/>
              </a:defRPr>
            </a:pPr>
            <a:r>
              <a:t>Core Architectural Paradigm: RETRIEVE  →  VERIFY  →  RESOLVE</a:t>
            </a:r>
          </a:p>
          <a:p>
            <a:br/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Arial"/>
              </a:defRPr>
            </a:pPr>
            <a:r>
              <a:t>Author: Janardhan Thrishank Singumahanthi</a:t>
            </a:r>
            <a:br/>
            <a:r>
              <a:t>Department of Computer Science and Engineering (AI &amp; ML)</a:t>
            </a:r>
            <a:br/>
            <a:r>
              <a:t>Ramachandra College of Engineering, Eluru, Andhra Pradesh, India</a:t>
            </a:r>
            <a:br/>
            <a:r>
              <a:t>Email: janardhanthrisank123@gmail.com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PROBLEM STATEMENT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Challenges in Enterprise Customer Support Automation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Operational hurdles facing frontline conversational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[VOLUME]  Repetitive Inquiries &amp; Search Latency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Customer service operations handle thousands of repetitive inquiries on warranties, refunds, and SLAs.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Manual retrieval across evolving documentation causes substantial agent cognitive fatigue and response latency.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Delays directly reduce customer satisfaction and degrade SLA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[ACCURACY]  Unaugmented LLM Hallucinations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Off-the-shelf generative LLMs lack access to private enterprise policies and internal workflows.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Unaugmented models exhibit generative hallucinations, synthesizing plausible but fabricated terms.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Inaccurate statements incur severe financial liabilities and compliance penalties.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[RETRIEVAL]  Retrieval Brittleness &amp; Semantic Drift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Pure lexical matching (BM25) fails on keyword traps and superficial lexical overlap in boilerplate text.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Dense vector models frequently suffer semantic drift across dense technical documentation.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Standard RAG lacks mechanisms to abstain when retrieved passages lack supporting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8795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[HARDWARE]  Resource &amp; Compute Constraints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Deploying standard 7B–70B models requires multi-GPU servers (16 GB–80 GB VRAM), creating severe cost barriers.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Local branch workstations and customer-edge deployments operate within strict compute limits (e.g., 4 GB laptop GPUs).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Small models must be domain-adapted without degrading factual accuracy or exceeding memory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PROJECT MOTIVATION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Why SupportIQ: Verifiable, Resource-Efficient Automation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Core principles guiding the design of the SupportIQ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3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[INTEGRITY]  Strict Factual Grounding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Ensure answers are generated solely from authentic, uploaded corporate policy documents.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Condition neural models strictly on verified context passages.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Eliminate speculative completion and hallucinated commitments.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Formulate factual truth as an explicit evidence chain connecting answers to physical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[AUDITABILITY]  Traceable Attribution &amp; Provenance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Every factual claim must point to an auditable source citation.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Attach Document ID, Title, Page Number, and Chunk ID to every verified proposition.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Empower human agents to inspect exact quoted excerpts instantly.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Build customer and regulator trust through deterministic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[SAFETY &amp; EDGE]  Safe Abstention &amp; Edge Efficiency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Enforce automated safe refusal on unsupported, adversarial, or out-of-domain queries.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Provide seamless 1-click human ticketing escalation whenever confidence is low.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Execute full parameter-efficient fine-tuning and live inference on a consumer 4 GB laptop GPU.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Sustain sub-second interactive response latencies without external cloud API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EXISTING APPROACHES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Comparative Analysis of Conversational QA Paradigms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Objective evaluation of architectural trade-offs in customer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4 of 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2926080"/>
                <a:gridCol w="259049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Operational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SupportIQ Distinction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Standalone Parametric LLM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Zero-shot prompt completion on pretrained foundation weights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Severe hallucinations on proprietary policies; no citations; large VRAM requirement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Conditions sub-1B model on retrieved context + PEFT domain adaptation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Basic RAG (Lexical BM25)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Sparse term frequency overlap with top candidate extraction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Vulnerable to keyword traps, synonyms, and superficial boilerplate matches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Fuses BM25 with 32-D deterministic hash vectors via RRF (k=60)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Dense Bi-Encoder RAG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Continuous dense embeddings (DPR, Sentence-Transformers)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Semantic drift across dense technical text; heavy GPU memory overhead for embeddings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Deterministic 32-D hash vector operates in milliseconds on CPU with zero neural overhead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Naive RAG (RRF No Gate)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Retrieval with rank fusion fed directly into generation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100% hallucination on unsupported queries due to lack of evidence gating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Algorithmic evidence gate enforces safe refusal on out-of-domain queries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SupportIQ Unified Pipeline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Two-stage hybrid retrieval + PEFT (LoRA/QLoRA) + Claim verification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Controlled edge scope; single laptop workstation boundary (fully disclosed)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100% composite accuracy, 100% claim faithfulness, zero hallucination on holdout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LITERATURE REVIEW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Academic Foundations &amp; Related Research (16 Seminal Works)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Four pillars synthesized from peer-reviewed publications in NLP and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5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[RAG &amp; LEXICAL]  Retrieval-Augmented Generation &amp; BM25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Lewis et al. (NeurIPS 2020) [1]: Formalized RAG by conditioning generative models on retrieved knowledge passages.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Robertson &amp; Zaragoza (FnTIR 2009) [5]: BM25 probabilistic relevance framework for exact lexical matching.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Gao et al. (arXiv 2023) [9]: Comprehensive survey of modular and advanced RAG paradigms for LLMs.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[RETRIEVAL &amp; FUSION]  Vector Retrieval &amp; Rank Fusion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Karpukhin et al. (EMNLP 2020) [11]: Dense Passage Retrieval (DPR) bi-encoder mapping.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Cormack, Clarke, &amp; Büttcher (ACM SIGIR 2009) [4]: Reciprocal Rank Fusion (RRF) combining distinct rank orders without score calibration.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47548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[PEFT ALGORITHMS]  Parameter-Efficient Fine-Tuning (PEFT)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Hu et al. (ICLR 2022) [2]: Low-Rank Adaptation (LoRA) freezing base weights and updating low-rank attention matrices.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Dettmers et al. (NeurIPS 2023) [3]: QLoRA 4-bit NormalFloat quantization with double quantization.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Yang et al. (arXiv 2024) [6]: Qwen2.5 foundation model family technical report.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Wolf et al. [15] &amp; Mangrulkar et al. [16]: HuggingFace Transformers and PEFT frameworks.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79392"/>
            <a:ext cx="47548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[GROUNDING &amp; SAFETY]  Hallucination Suppression &amp; Attribution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Thorne et al. (NAACL 2018) [7]: FEVER dataset for proposition-level fact verification.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Asai et al. (ICLR 2024) [8]: Self-RAG reflection and critique tokens for dynamic retrieval.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Shuster et al. [10], Gautam et al. [12], Yoran et al. [13], Bohnet et al. [14]: Attributed QA, conversational support AI, and distractor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RESEARCH GAP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Identified Gaps in Constrained Customer Support QA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Translating theoretical advances into resource-constrained edge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6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[RETRIEVAL GAP]  Gap 1: Retrieval in Policy Corpora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Prior hybrid retrieval research predominantly benchmarks large neural bi-encoders on data-center servers.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Evaluation of sparse BM25 fused with lightweight 32-dimensional deterministic hash-vector representations via RRF remains less explored on edge devices.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Investigated Configuration: Non-linear RRF (k=60, lexical weight 0.60, vector weight 0.40) on CPU with zero neural embedding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[PEFT EDGE GAP]  Gap 2: Sub-1B Models via QLoRA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Most QLoRA literature focuses on 7B–65B parameter foundation models operating on enterprise GPUs.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The impact of 4-bit NF4 quantization on compact sub-1B parameter models (Qwen2.5-0.5B) under 4 GB laptop GPU constraints is under-investigated.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Investigated Configuration: Direct empirical comparison between unquantized FP16 LoRA and 4-bit NF4 QLoRA updating exactly 0.1093% of parameters.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[GROUNDING GAP]  Gap 3: In-Pipeline Claim Attribution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Contemporary RAG pipelines frequently rely on secondary LLM judges for factual verification, adding latency and recurring token costs.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There is a need for deterministic, in-pipeline sentence-level claim verification and continuous reliability scoring operating in milliseconds on CPU.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Investigated Configuration: Deterministic claim decomposition, lexical token alignment, continuous reliability formulation, and automated safe refusal.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RESEARCH QUESTIONS &amp; OBJECTIVES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Experimental Inquiries and Research Objectives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Directly mapping empirical research questions to testable 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7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[RQ1 / RO1]  RQ1 &amp; RO1: Hybrid Retrieval &amp; RRF Ranking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RQ1: How do sparse lexical matching, a 32-D deterministic hash vector, and their RRF hybrid fusion affect candidate Recall@5 and MRR?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RO1: Implement and evaluate candidate recall and ranking precision across enterprise policy documents on host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[RQ2 / RO2]  RQ2 &amp; RO2: Parameter-Efficient Domain Adaptation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RQ2: Can low-rank adaptation (LoRA/QLoRA) on &lt;= 0.11% parameters condition Qwen2.5-0.5B into strict customer-support formatting?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RO2: Validate training convergence, loss dynamics, and parameter economy on an NVIDIA GeForce RTX 2050 Laptop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[RQ3 / RO3]  RQ3 &amp; RO3: Deterministic Grounding &amp; Safe Refusal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RQ3: Does sentence-level claim decomposition and evidence gating eliminate hallucinations and enforce safe refusal on adversarial queries?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RO3: Measure claim faithfulness, citation correctness, and hallucination suppression on a frozen holdout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87952"/>
            <a:ext cx="475488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[RQ4 / RO4]  RQ4 &amp; RO4: Hardware Efficiency Trade-Offs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RQ4: What are the empirical trade-offs between unquantized FP16 LoRA and 4-bit NF4 QLoRA in generation latency and peak VRAM?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RO4: Record live synchronized GPU telemetry on an RTX 2050 GPU (4 GB) to quantify latency vs. memory compression trade-offs.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PROPOSED SYSTEM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SupportIQ: End-to-End Grounded Customer Support QA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A unified architecture built on the principle: RETRIEVE → VERIFY →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8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1. Query Ingestion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Tokenize query, remove domain stopwords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2. Hybrid Retrieval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BM25 lexical + 32-D hash vector cosine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3. RRF Re-ranking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Fused ordinal rank scoring (k=60)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4. Evidence Gate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Threshold check (score &gt;= 0.15)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00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5. Context Assembly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Top-3 chunks formatted into ChatML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10896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3200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6. Adapter Generation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Qwen2.5-0.5B with LoRA / QLoRA greedy decode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200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7. Claim Verification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Sentence decomposition + lexical token alignment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108960"/>
            <a:ext cx="2499055" cy="11887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3200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8. Provenance Attribution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Continuous reliability score + page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212080" cy="1554480"/>
          </a:xfrm>
          <a:prstGeom prst="roundRect">
            <a:avLst/>
          </a:prstGeom>
          <a:solidFill>
            <a:srgbClr val="102C28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PRIMARY RESOLUTION: VERIFIED GROUNDED ANSWER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• Emits factual response strictly adhering to retrieved evidence.</a:t>
            </a:r>
            <a:br/>
            <a:r>
              <a:t>• Displays continuous reliability score (0.0 – 1.0).</a:t>
            </a:r>
            <a:br/>
            <a:r>
              <a:t>• Attaches clickable page-level provenance citations (Doc, Page, Chunk).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242255" cy="1554480"/>
          </a:xfrm>
          <a:prstGeom prst="roundRect">
            <a:avLst/>
          </a:prstGeom>
          <a:solidFill>
            <a:srgbClr val="321E1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SAFE ABSTENTION &amp; HUMAN ESCALATION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Arial"/>
              </a:defRPr>
            </a:pPr>
            <a:r>
              <a:t>• If evidence criteria fail: suppresses generation to prevent hallucination.</a:t>
            </a:r>
            <a:br/>
            <a:r>
              <a:t>• Emits transparent safe refusal notice.</a:t>
            </a:r>
            <a:br/>
            <a:r>
              <a:t>• Provides direct 1-click modal for support ticket creation in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SYSTEM ARCHITECTURE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Technical System Architecture &amp; Data Flow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Detailed multi-stage pipeline connecting knowledge ingestion to verified user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9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99055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133295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[INPUT &amp; RETRIEVAL]  1. Retrieval Layer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User Query Ingestion via FastAPI REST endpoints.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Knowledge Base (7 Docs / 14 Chunks in SQLite).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Parallel Retrieval: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Lexical Channel: Substantive token overlap (pruning 128 standard + 18 domain stopwords).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Deterministic Vector: SHA-1 token hashing modulo 32 + Cosine Similarity.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Reciprocal Rank Fusion (RRF): Combines ranks with k=60 (0.60 lex / 0.40 vec).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10512"/>
            <a:ext cx="2133295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[FILTER &amp; GATE]  2. Gating &amp; Context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Algorithmic Evidence Gate: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Top chunk composite similarity &gt;= 0.15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Substantive terms &gt;= 2 OR lexical score &gt;= 0.35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Dual Safeguard: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Rejects keyword traps and domain boilerplate.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Context Assembly: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Formats Top-3 verified chunks into structured ChatML system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99055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2133295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[PEFT SYNTHESIS]  3. Neural Generation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Foundation Model: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Qwen/Qwen2.5-0.5B-Instruct (494.6M parameters).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PEFT Adapters (Runtime Switchable):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SupportIQ LoRA: FP16 unquantized (0.844 s latency).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SupportIQ QLoRA: 4-bit NF4 quantized (0.46 GB VRAM).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Greedy Decoding: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Deterministic inference (do_sample=False, max_tokens=96).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99055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10512"/>
            <a:ext cx="2133295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[VERIFY &amp; RESOLVE]  4. Grounding &amp; Citations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Claim Decomposition: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Splits answer into sentences.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Token-Level Alignment: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Verifies claim support (threshold &gt;= 0.12).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Reliability Scoring: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Continuous 0.0 - 1.0 reliability.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Output Pathways: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Grounded answer + page citations.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OR Safe refusal + 1-click human ticketing modal.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HYBRID RETRIEVAL &amp; RRF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Sparse Lexical Matching + 32-D Deterministic Hash Vector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Overcoming keyword traps and semantic drift through non-linear rank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10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[LEXICAL]  Lexical Channel (BM25 / Token Overlap)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Tokenizes alphanumeric queries ([a-z0-9]+ with length &gt; 2).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Two-Tier Stopword Filtering: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Standard English stopwords (128 words).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Domain stopwords (18 words: supportiq, policy, support, help, customer, client, etc.).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Formula: LexicalScore(Q, C) = |Q_substantive ∩ C_tokens| / |Q_substantive|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[DETERMINISTIC VECTOR]  32-D Deterministic Hash-Vector Channel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Projects tokens into a 32-dimensional bucket space via SHA-1 hashing modulo 32: Index(t) = SHA1(t)[:4] mod 32.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Accumulates token counts in chunk vector C ∈ R^32.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Computes Cosine Similarity between query vector Q and chunk vector C.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CRITICAL DISCLOSURE: Strictly a deterministic hash-vector representation. It is NOT a learned neural embedding.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[RRF &amp; EVIDENCE GATE]  Reciprocal Rank Fusion (RRF) Formulation &amp; Evidence Gate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Non-linear Rank Fusion Formula: RRF_Score(c) = [ 0.60 / (60 + r_lex) ] + [ 0.40 / (60 + r_vec) ]  with smoothing constant k = 60.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Tie-Breaking Composite Score: Sim(c) = 0.65 × LexicalScore(c) + 0.35 × CosineSim(c). Top-5 chunks forwarded to gate.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Evidence Gate Safeguards: Query passes to generation ONLY if (Top Chunk Composite Score &gt;= 0.15) AND (Substantive Matched Terms &gt;= 2 OR Lexical Score &gt;= 0.35).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Impact: Completely neutralizes keyword traps (e.g. Case #20 matching 'warranty') and boilerplate collisions (Case #18).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LORA ADAPTATION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Low-Rank Adaptation (FP16) on Qwen2.5-0.5B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Drastic parameter economy enabling fast interactive customer support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11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[FORMULATION]  Low-Rank Mathematics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Freezes pre-trained weight matrix W_0 ∈ R^(d × k).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Constrains weight updates to a low-rank decomposition: W = W_0 + (α/r) × B × A.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 ∈ R^(d × r) initialized to zero; A ∈ R^(r × k) initialized from Gaussian.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Hyperparameters: Rank r = 8, Alpha α = 16, Scaling factor α/r = 2.0, Dropout = 0.05.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Target Modules: Query projection (q_proj) and Value projection (v_proj) in self-attention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[EFFICIENCY]  Parameter Economy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Base Model: Qwen/Qwen2.5-0.5B-Instruct (494,573,440 total parameters).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Trainable Adapter Parameters: Exactly 540,672.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Trainable Ratio: Exactly 0.1093% of base model weights.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Frozen Ratio: 99.8907% of the model remains completely untouched.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Memory Benefit: Eliminates full optimizer state storage for 494.6M parameters.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[TELEMETRY]  Training Dynamics &amp; Telemetry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Dataset: 31 domain-specific instruction examples (3 epochs, effective batch size 4).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Optimizer: AdamW, learning rate 2e-4 with linear warmup.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Training Wall-Clock Time: Exactly 9.06 seconds on RTX 2050 GPU.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Loss Convergence: Cross-entropy validation loss decreased from 1.6426 to 1.4008.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Peak Training VRAM: 2.42 GB.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Speed: Achieves the fastest generation latency (0.844 s) on holdout.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QLORA QUANTIZATION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Quantized Low-Rank Adaptation (4-bit NF4)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Extreme memory compression for local workstation and edge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12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[QUANTIZATION]  4-bit NormalFloat (NF4)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Information-theoretically optimal quantile quantization for normally distributed weights.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Each quantization bin contains an equal number of expected parameters from Gaussian distribution.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Preserves expressive capacity of base model weights far better than uniform linear integer (INT4) quantization.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Weights remain compressed in 4-bit memory until dynamically dequantized during forward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[MEMORY SAVING]  Double Quantization &amp; FP16 Compute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Double Quantization (DQ): Quantizes first-stage quantization constants into 8-bit integers with 32-block size.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Memory Savings: Saves 0.37 bits per parameter (~180 MB memory saving on 0.5B model).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Compute Dtype: FP16 (torch.float16) is used during forward and backward matrix multiplications.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Adapter Parameters: Identical low-rank low-overhead matrices (r=8, α=16, 540,672 parameters).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[TELEMETRY]  QLoRA Telemetry &amp; VRAM Cut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Training Wall-Clock Time: 21.60 seconds (2.38x slower than LoRA due to dequantization overhead).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Loss Convergence: Validation loss decreased from 1.5872 to 1.3748.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Peak Training VRAM: Exactly 1.79 GB (a 26.0% training memory saving vs. LoRA).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VRAM Slashed: Requires only 0.46 GB VRAM during inference—a 52.1% reduction over unquantized baselines.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GPU Utilization: Consumes just 11.5% of total 4 GB VRAM on RTX 2050.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GROUNDING &amp; VERIFICATION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Sentence-Level Claim Decomposition &amp; Reliability Scoring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Deterministic in-pipeline evidence chain eliminating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13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[STAGE 1]  1. Claim Proposition Splitting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Segments generated text into atomic proposition sentences S = {s_1, ..., s_m} using regex punctuation delimiters ([.!?]\s+|\n+).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Treats each sentence as an independently verifiable factual claim.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Prevents compound sentences from concealing ungrounded assertions.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Operates deterministically in milliseconds on host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[STAGE 2]  2. Substantive Evidence Alignment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For each proposition s_j, computes lexical token overlap against retrieved context chunks C_i.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Formula: ClaimScore(s_j, C_i) = |s_j,sub ∩ C_i,tok| / |s_j,sub|.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Grounding Gate: Proposition is classified as supported if max_i ClaimScore(s_j, C_i) &gt;= 0.12.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Tracks the exact chunk ID and document page providing highest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[STAGE 3]  3. Continuous Reliability Formulation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Coverage = N_supported_claims / N_total_claims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NormalizedSupport = min(1.0, AverageEvidenceScore / 0.35)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ReliabilityScore = 0.70 × Coverage + 0.30 × NormalizedSupport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Grounding Status Tiers: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supported: Coverage &gt;= 0.80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partially_supported: 0.50 &lt;= Coverage &lt; 0.80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  - unsupported: Coverage &lt; 0.50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Safety Escalation: If Reliability &lt; 0.40, response is flagged as low_confidence with direct 1-click human ticketing modal.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DATASET &amp; DATA GOVERNANCE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Document Corpus, Fine-Tuning Pool, and Frozen Holdout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Strict disjoint partitioning guaranteeing 0.0%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14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[KNOWLEDGE BASE]  Knowledge Base Corpus (7 Docs)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Return_Policy.pdf (Doc 1, 3 chunks): Refund windows, return eligibility, disbursement timelines.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Terms_of_Service.pdf (Doc 2, 2 chunks): SLA guarantees, admin credential security.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Product_Warranty.pdf (Doc 3, 2 chunks): Hardware warranty, pre-diagnostic RMA tags.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Customer_FAQ.pdf (Doc 4, 2 chunks): Password reset, ticketing platform API.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Payment_Guide.docx (Doc 5, 2 chunks): Accepted credit cards, invoice downloads.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Account_Management.pdf (Doc 6, 2 chunks): Role permissions, AES-256 data encryption.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Express_Replacement_Policy_Test.txt (Doc 8, 1 chunk): Defective replacement dispatch.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Total: 14 discrete policy chunks stored in SQLite.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[TRAINING SUITE]  Fine-Tuning Instruction Pool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Created directly from knowledge chunks to enforce strict context-bound question answering.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Training Dataset: Exactly 31 verified examples (75.6% split).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Validation Dataset: Exactly 10 verified examples (24.4% split).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Total Instruction Suite: 41 verified pairs.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Strict JSON Schema: id, instruction, context, question, answer, and metadata (category, doc_id, chunk_id, is_answerable, grounded).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[BENCHMARK &amp; INTEGRITY]  Frozen Holdout Benchmark &amp; 0.0% Leakage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Dataset 1 (Dev/Validation Benchmark v1): 10 cases (7 answerable, 3 unsupported) mapped to Chunks {1, 2, 5, 6, 8, 10, 14}.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Dataset 2 (Frozen Holdout Benchmark v1): 10 cases (7 answerable, 3 unsupported) mapped to Chunks {3, 4, 7, 9, 11, 12, 13}.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Strict Disjointness: Chunk coverage intersection between Dev and Holdout is strictly empty (∅).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Frozen State: Database records strictly frozen (timestamp: 2026-09-23 04:53:12).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Zero Leakage: Pre-training assertions verified 0.0% question/answer leakage into training 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EXPERIMENTAL SETUP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Hardware Constraints &amp; Software Environment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Strict single-workstation environment reflecting realistic local enterprise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15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[FOUNDATION MODEL]  Base Foundation Model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Model ID: Qwen/Qwen2.5-0.5B-Instruct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Developer: Alibaba Cloud (Qwen Team) [6]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Total Parameter Count: Exactly 494,573,440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Architecture: Transformer Causal Decoder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Layers: 24 transformer layers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Hidden Dimension: 896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Attention Heads: 14 query heads, 2 KV heads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Context Window: Native support up to 32k tokens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Vocabulary: 151,936 tokens (ChatML format)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[HARDWARE CEILING]  Workstation Hardware Boundary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Host: Single consumer laptop workstation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GPU: NVIDIA GeForce RTX 2050 Laptop GPU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GPU Devices: 1 physical device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Total Physical VRAM: Exactly 4.00 GB (4096 MB)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CUDA Compute Capability: 8.6 (Ampere architecture)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CUDA Runtime: CUDA 12.4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CPU: AMD Ryzen / Host System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Integrity Confirmation: Erroneous prior references to RTX 3050 eliminated; physical hardware confirmed as RTX 2050.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[SOFTWARE STACK]  Software Stack &amp; Protocols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Operating System: Windows 11 AMD64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Python Runtime: Python 3.12.10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Deep Learning: PyTorch 2.6.0+cu124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HuggingFace Libraries: Transformers 5.17.0 [15], PEFT 0.21.0 [16], Accelerate 1.15.0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Quantization: bitsandbytes 0.50.2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Protocol: Greedy autoregressive decoding (do_sample=False, max_new_tokens=96) with synchronized CUDA timers (torch.cuda.synchronize()).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EVALUATION METRICS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Evaluation Framework &amp; Latency Separation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Mathematical definitions and strict decoupling of retrieval and generation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16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[RETRIEVAL METRICS]  Retrieval &amp; Ranking Metrics (N_ans = 7)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Recall@5: Fraction of answerable queries where ground-truth chunk c* is retrieved within Top 5: (1/N_ans) ∑ I(c* ∈ Top5(Q_i)).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Mean Reciprocal Rank (MRR): Average of reciprocal ranks of the first relevant chunk: (1/N_ans) ∑ (1 / Rank(c*_i)).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Target Threshold: Recall@5 &gt;= 0.90, MRR &gt;= 0.85.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[GROUNDING &amp; SAFETY]  Factual Grounding &amp; Safety Metrics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Composite Accuracy (N=10): (N_correct_answers + N_safe_refusals) / N_total.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Claim Faithfulness (N_ans=7): Proportion of generated propositions mathematically grounded in context (match score &gt;= 0.12).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Citation Correctness (N=10): Valid chunk links for answerable / exactly zero citations emitted on safe refusal.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Hallucination Rate (N_unsupp=3): Fraction of unsupported queries where fictitious claims are generated (Target: 0.0%).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[LATENCY SEPARATION]  Strict Latency Decoupling: CPU Retrieval vs. GPU Generation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CPU Retrieval Latency (wall-clock ms): Measures candidate gathering, SHA-1 token projection, cosine similarity, RRF, and evidence gating on CPU. (Observed: ~5 ms – 12 ms).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GPU Neural Generation Latency (synchronized CUDA seconds): Measures autoregressive token synthesis on RTX 2050 GPU via torch.cuda.synchronize(). (Observed: 0.844 s – 2.061 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CRITICAL SCIENTIFIC INTEGRITY RULE: Offline extractive baseline latency (0.0119 s CPU) must NEVER be conflated with neural GPU generation latency.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MAIN RESULTS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Empirical Holdout Evaluation Results (Dataset 2, N=10)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Live neural inference telemetry on NVIDIA GeForce RTX 2050 Laptop GPU (4 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17 of 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371600"/>
                <a:gridCol w="1371600"/>
                <a:gridCol w="1371600"/>
                <a:gridCol w="1463040"/>
                <a:gridCol w="1401775"/>
              </a:tblGrid>
              <a:tr h="6217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Recall@5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Gen.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Inference VRAM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Base Qwen 2.5 0.5B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FP16 (Pretrained)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2.061 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0.96 GB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SupportIQ LoRA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FP16 PEFT (r=8)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0.844 s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0.96 GB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SupportIQ QLoRA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4-bit NF4 PEFT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1.668 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0.46 GB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Offline Extractive (Run 42)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Template Baseline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02352"/>
            <a:ext cx="10362895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[SUMMARY]  Key Empirical Findings on Frozen Holdout Benchmark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Both fine-tuned adapters (LoRA and QLoRA) achieved 100.0% composite accuracy and 100.0% claim faithfulness (answering all 7 policy questions accurately and refusing all 3 unsupported queries).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Pretrained Base Qwen achieved 95.2% faithfulness due to conversational verbosity, while fine-tuned adapters adhered strictly to extracted facts.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 offline pipeline execution (Run 42), candidate retrieval and verification executed in just 11.9 milliseconds (0.0119 s) on CPU.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No Single Winner: FP16 LoRA maximizes interactive speed (0.844 s), while 4-bit QLoRA maximizes memory efficiency (0.46 GB VRAM).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RESOURCE TRADE-OFFS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Operational Trade-Offs: LoRA vs. QLoRA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Balanced empirical comparison of latency versus memory compression on RTX 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18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9260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[SPEED ADVANTAGE]  SupportIQ LoRA (FP16 PEFT)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VRAM: 0.96 GB allocated (24.0% of 4 GB GPU capacity).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Generation Latency: 0.844 seconds (1.98x faster than QLoRA, 2.44x faster than Base Qwen).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Training Duration: 9.06 seconds (2.38x faster training).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Primary Advantage: Fastest response generation; zero on-the-fly dequantization overhead.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Best Suited For: High-throughput interactive customer chat where minimizing response latency is the primary engineering goal.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9260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54880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[MEMORY ADVANTAGE]  SupportIQ QLoRA (4-bit NF4)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VRAM: 0.46 GB allocated (52.1% VRAM reduction relative to LoRA and Base).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GPU Capacity Footprint: Consumes just 11.5% of total 4 GB VRAM.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Generation Latency: 1.668 seconds (incurs real-time NF4 to FP16 dequantization overhead).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Training VRAM: 1.79 GB (26.0% memory saving during training).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Best Suited For: Resource-constrained edge workstations where the GPU must concurrently host other services or multi-tenant microservices.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19472"/>
            <a:ext cx="10362895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[EVIDENCE-BASED SYNTHESIS]  Balanced Scientific Evaluation &amp; Non-Generalization Caveat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Identical Task Quality: Both configurations achieved identical 100.0% composite accuracy and 100.0% claim faithfulness on the evaluated holdout suite.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Engineering Complementarity: The choice between LoRA and QLoRA represents a pure latency-versus-memory engineering trade-off.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Non-Generalization Caveat: These empirical trade-offs reflect the evaluated sub-1B architecture on an RTX 2050 laptop GPU and should not be generalized beyond these tested experimental conditions.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ABLATION STUDY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Component Ablation Analysis (Experiment 4, Runs 45–50)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Isolating individual components across Frozen Holdout Dataset 2 (N=10)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19 of 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1280160"/>
                <a:gridCol w="1280160"/>
                <a:gridCol w="1463040"/>
                <a:gridCol w="3687775"/>
              </a:tblGrid>
              <a:tr h="44413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Run 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Ablation Mode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Primary Failure Mechanism Identified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 45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BM25 Only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90.0% (9/10)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33.3% (1/3)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Keyword trap: Case #20 matched 'warranty' in Dell chunk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 46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Dense Vector Only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70.0% (7/10)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0.7976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100.0% (3/3)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Semantic drift: Case 16 at rank 3, Case 17 at rank 4; hash collisions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 47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Hybrid w/o RRF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90.0% (9/10)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33.3% (1/3)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Keyword spike: Linear sum bypassed similarity threshold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 48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Naive RAG (No Gate)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70.0% (7/10)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100.0% (3/3)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Unconditional generation: Top chunk passed without verification gate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 49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Generic Filter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90.0% (9/10)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33.3% (1/3)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Boilerplate trap: Case #18 matched 'supportiq' and 'support'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Run 50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Full SupportIQ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100.0% (10/10)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0.0% (0/3)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None: Dual safeguard eliminated keyword traps and boilerplate false positives</a:t>
                      </a:r>
                    </a:p>
                  </a:txBody>
                  <a:tcPr>
                    <a:solidFill>
                      <a:srgbClr val="1520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02352"/>
            <a:ext cx="10362895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[ABLATION LESSONS]  Key Takeaways from Ablation Analysis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Naive RAG Fails Safety: In Run 48, retrieval was optimal (MRR 1.0000), but hallucinated on 100% of unsupported queries because evidence was not audited.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Keyword Traps Exist: Case #20 ('warp drive warranty') tricked lexical and linear hybrid search by matching Dell hardware warranty text.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Dual Safeguard Essential: Coupling domain stopword filtering with the RRF evidence gate is strictly necessary to achieve zero hallucination.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SYSTEM &amp; UI MODULES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SupportIQ Functional Platform Architecture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Production-grade UI modules implemented in React, TypeScript, and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20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Knowledge Ingestion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Uploads PDF, DOCX, TXT with page tracking, checksum validation, and SHA-1 hash-vector indexing.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Multi-Model Chat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Interactive conversational interface with dynamic runtime switching between Base, LoRA, and QLoRA.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Reliability Panel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Real-time inspection of claim decomposition, proposition coverage %, and continuous score (0.0–1.0).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Evidence Viewer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Displays exact supporting excerpts with clickable citations (Document Title, Page Number, Chunk ID).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2336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Safe Refusal &amp; Tickets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Automated transparent refusal notice with 1-click support ticket escalation modal in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413455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[MODULE]  Live GPU Telemetry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Real-time monitoring of CUDA generation latency, peak VRAM allocation, and retrieval speed.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LIMITATIONS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Scientific Disclosures &amp; Operational Boundaries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Maintaining strict academic integrity by explicitly identifying operational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21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[DATASET LIMIT]  1. Holdout Benchmark Scale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The frozen holdout suite consists of N=10 structured cases (7 answerable, 3 unsupported).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While balanced, this represents a controlled verification suite rather than a large statistical benchmark.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[HARDWARE LIMIT]  2. Single Hardware Environment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Evaluated exclusively on an NVIDIA GeForce RTX 2050 Laptop GPU (4.0 GB VRAM).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Distributed multi-GPU scaling, enterprise clusters, and high-concurrency request queuing were not evaluated.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[REPRESENTATION LIMIT]  3. Hash Vector Representation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Retrieval semantic channel uses a 32-D deterministic hash vector rather than learned continuous embeddings.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While fast on CPU, hash vectors cannot capture deep latent semantic synonyms.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29260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[DOMAIN LIMIT]  4. Policy Domain Scope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The experimental corpus covers seven enterprise operational documents (14 discrete chunks).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Behavior across multi-million-page documentation lakes or dynamic graphs remains unmeasured.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79392"/>
            <a:ext cx="29260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[DIALOGUE SCOPE]  5. Single-Turn Interaction Scope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Benchmark evaluates single-turn question-answering interactions.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Multi-turn conversational context tracking, slot filling, and dialogue state tracking were not benchmarked.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79392"/>
            <a:ext cx="30175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[GENERALIZATION]  6. Generalization Boundaries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Empirical findings must not be generalized beyond the tested hardware, small dataset scale, and policy domain.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Comprehensive testing on noisy multi-turn enterprise data is required for broad generalization.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FUTURE WORK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Planned Extensions &amp; Research Roadmap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Concrete directions to advance the SupportIQ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22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47914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1. Lightweight Learned Neural Bi-Encoders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Integrate compact, locally quantized neural bi-encoder models (e.g., MiniLM) to replace or augment the 32-D hash vector, evaluating semantic recall gains under edge memory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55648"/>
            <a:ext cx="47914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2. Multi-Turn Dialogue Benchmark Scaling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Scale evaluation benchmarks to hundreds of multi-turn customer dialogues with user typos, noisy queries, and conversational state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0128"/>
            <a:ext cx="47914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3. Broader Document Domain Ingestion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Benchmark pipeline throughput across multi-thousand-page technical libraries, semi-structured tables, and hierarchical policy knowledge bases.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00400"/>
            <a:ext cx="512064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310128"/>
            <a:ext cx="47914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4. Enterprise CRM &amp; Ticketing API Integration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Connect the verification engine directly to Zendesk, Jira Service Desk, and ServiceNow REST APIs for automated ticket creation, routing, and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864608"/>
            <a:ext cx="10399471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rial"/>
              </a:defRPr>
            </a:pPr>
            <a:r>
              <a:t>5. Human-in-the-Loop DPO Alignment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Incorporate implicit customer service agent feedback from resolved tickets into iterative Direct Preference Optimization (DPO) fine-tuning pipelines.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CONCLUSION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Summary of Research Contributions &amp; Key Takeaways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Evidence-based synthesis of the SupportIQ question-answering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23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[ARCHITECTURE]  Unified Edge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Successfully coupled two-stage hybrid retrieval with PEFT domain adaptation and in-pipeline claim verification.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Fused sparse BM25 with a 32-D deterministic hash vector via RRF (k=60), mitigating keyword traps.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Domain-adapted Qwen2.5-0.5B via LoRA and QLoRA, training only 0.1093% of parameters (540,672).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Demonstrates complete operational execution on a 4 GB consumer laptop GPU.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DD4BF"/>
                </a:solidFill>
                <a:latin typeface="Arial"/>
              </a:defRPr>
            </a:pPr>
            <a:r>
              <a:t>[TRADE-OFFS]  Observed Resource Trade-Offs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Inference VRAM Slashed: 4-bit NF4 QLoRA cuts inference memory to 0.46 GB (52.1% reduction vs. LoRA and Base).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Interactive Speed: FP16 LoRA generates in 0.844 s (1.98x faster than QLoRA, 2.44x faster than Base Qwen).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No Quality Degradation: Both fine-tuned adapters achieved 100.0% composite accuracy and 100.0% claim faithfulness on holdout.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Trade-Off Rationale: Latency overhead in QLoRA stems from runtime NF4 to FP16 dequantization.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[SAFETY LESSON]  The Necessity of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Ablation Proof: Hybrid retrieval alone (Naive RAG) hallucinated on 100% of unsupported queries.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Deterministic Safeguards Essential: Sentence claim decomposition and domain stopword filtering eliminated all false positives.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•  Practical Impact: Enables verifiable, fact-grounded customer support automation with automated safe abstention on commodity hardware.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SUPPORTIQ RESEARCH PRESENTATION  |  REFERENCES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Seminal Literature &amp; Academic References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16 peer-reviewed publications grounding the SupportIQ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SupportIQ  •  Janardhan Thrishank Singumahanthi  •  Ramachandra College of Engineering                                Slide 24 of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[1] P. Lewis et al., 'Retrieval-augmented generation for knowledge-intensive NLP tasks,' in NeurIPS, vol. 33, 2020.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[2] E. J. Hu et al., 'LoRA: Low-rank adaptation of large language models,' in Proc. ICLR, 2022.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[3] T. Dettmers et al., 'QLoRA: Efficient finetuning of quantized LLMs,' in NeurIPS, vol. 36, 2023.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[4] G. V. Cormack et al., 'Reciprocal rank fusion outperforms Condorcet and individual rank learning methods,' in ACM SIGIR, 2009.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[5] S. Robertson &amp; H. Zaragoza, 'The probabilistic relevance framework: BM25 and beyond,' Found. Trends Inf. Retr., 2009.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[6] A. Yang et al. (Qwen Team), 'Qwen2.5 technical report,' arXiv preprint arXiv:2412.15115, 2024.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[7] J. Thorne et al., 'FEVER: A large-scale dataset for fact extraction and VERification,' in NAACL-HLT, 2018.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[8] A. Asai et al., 'Self-RAG: Learning to retrieve, generate, and critique through self-reflection,' in Proc. ICLR, 2024.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[9] Y. Gao et al., 'Retrieval-augmented generation for large language models: A survey,' arXiv:2312.10997, 2023.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[10] K. Shuster et al., 'Retrieval augmentation reduces hallucination in conversation,' in Findings of EMNLP, 2021.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[11] V. Karpukhin et al., 'Dense passage retrieval for open-domain question answering,' in Proc. EMNLP, 2020.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[12] A. Gautam et al., 'Domain-specific conversational AI in customer support: Challenges and opportunities,' IEEE Access, 2022.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[13] O. Yoran et al., 'Making retrieval-augmented language models robust to irrelevant context,' in Proc. ICLR, 2024.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[14] B. Bohnet et al., 'Attributed question answering: Evaluation and modeling for attributed LLMs,' arXiv:2212.08037, 2022.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[15] T. Wolf et al., 'Transformers: State-of-the-art natural language processing,' in EMNLP Demos, 2020.</a:t>
            </a:r>
          </a:p>
          <a:p>
            <a:pPr>
              <a:spcBef>
                <a:spcPts val="5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[16] S. Mangrulkar et al., 'PEFT: State-of-the-art parameter-efficient fine-tuning methods,' Hugging Face,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